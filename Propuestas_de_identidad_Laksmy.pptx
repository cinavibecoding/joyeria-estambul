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Laksmy, identidad de marca. Tres direcciones exploradas; esta presentación desarrolla la recomendada, El Punzón.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exploraron tres ejes distintos: oficio, nombre y transparencia. Se recomienda El Punzón porque evoluciona lo que ya existe sin romperlo.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sello es un punzón: la marca que dice quién hizo la pieza y con qué ley. Sin ilustración, sin corona, sin diamante dibujado.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Siete maneras de romper el sello. La más común es el degradado dorado.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60/25/10/4/1. El lacre es el único color de acción: si aparece dos veces en la misma pantalla, una sobra.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Siete piedras, siete carreras. Un color con significado deja de significar en cuanto se usa de adorno: fuera de anillos de grado, no 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Instrument Serif tiene una sola pesa a propósito: la jerarquía viene del tamaño y del aire. Todo número va en DM Mono; es la firma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taller es el personaje, no la marca. Se tutea, se dicen los precios, nunca 'escríbenos por precio'.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ficha limpia es mejor que una foto sucia. Nunca marca de agua, ícono de red social ni recorte de carrusel.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tipos en rotación. Dos de cada tres publicaciones llevan un precio a la 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Tarjeta, empaque, certificado de ley y sticker de CTA. El certificado es el argumento que justifica el precio del 18k.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tipo C, ficha. El mismo modelo en cuatro leyes, con el precio a la vista. Va dirigido al público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tipo A, titular. Habla al público que regala 18k: el oro como resguardo de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Formato de enlace 1200×630. El espectro completo como argumento visual: cada carrera tiene su piedra.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 de pieza a la medida. Trae la foto, nosotros la hacemos: es el que más conversación abre.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Falta decidir la dirección, cerrar el RIF, y producir la fotografía propia de las 29 piezas sin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47750"/>
            <a:ext cx="1257300" cy="1257300"/>
          </a:xfrm>
          <a:prstGeom prst="roundRect">
            <a:avLst>
              <a:gd name="adj" fmla="val 7576"/>
            </a:avLst>
          </a:prstGeom>
          <a:ln w="9525">
            <a:solidFill>
              <a:srgbClr val="C79A50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9175" y="1057275"/>
            <a:ext cx="131445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C79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3567044" y="1047750"/>
            <a:ext cx="3673206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1111"/>
              </a:lnSpc>
              <a:buNone/>
            </a:pPr>
            <a:r>
              <a:rPr lang="en-US" sz="1800" spc="324" kern="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ORFEBRERÍA · CARACAS AGOSTO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5110163"/>
            <a:ext cx="16678275" cy="275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578"/>
              </a:lnSpc>
              <a:buNone/>
            </a:pPr>
            <a:r>
              <a:rPr lang="en-US" sz="11250" spc="-112" kern="0" dirty="0">
                <a:solidFill>
                  <a:srgbClr val="F7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Identidad de marca</a:t>
            </a:r>
            <a:endParaRPr lang="en-US" sz="11250" dirty="0"/>
          </a:p>
        </p:txBody>
      </p:sp>
      <p:sp>
        <p:nvSpPr>
          <p:cNvPr id="6" name="Shape 4"/>
          <p:cNvSpPr/>
          <p:nvPr/>
        </p:nvSpPr>
        <p:spPr>
          <a:xfrm>
            <a:off x="1047750" y="8281987"/>
            <a:ext cx="16192500" cy="9525"/>
          </a:xfrm>
          <a:prstGeom prst="rect">
            <a:avLst/>
          </a:prstGeom>
          <a:solidFill>
            <a:srgbClr val="F7F9F7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8596313"/>
            <a:ext cx="181923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312" kern="0" dirty="0">
                <a:solidFill>
                  <a:srgbClr val="F7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LAKSMY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2475443" y="8915400"/>
            <a:ext cx="5241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DIRECCIÓN 1A · «EL PUNZÓN»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1051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85888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58"/>
              </a:lnSpc>
              <a:buNone/>
            </a:pPr>
            <a:r>
              <a:rPr lang="en-US" sz="63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direcciones, un mismo encargo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643188"/>
            <a:ext cx="5257800" cy="6729413"/>
          </a:xfrm>
          <a:prstGeom prst="roundRect">
            <a:avLst>
              <a:gd name="adj" fmla="val 543"/>
            </a:avLst>
          </a:prstGeom>
          <a:solidFill>
            <a:srgbClr val="161D1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3062288"/>
            <a:ext cx="838200" cy="838200"/>
          </a:xfrm>
          <a:prstGeom prst="roundRect">
            <a:avLst>
              <a:gd name="adj" fmla="val 9091"/>
            </a:avLst>
          </a:prstGeom>
          <a:solidFill>
            <a:srgbClr val="F7F9F7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62288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161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4129088"/>
            <a:ext cx="486156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dirty="0">
                <a:solidFill>
                  <a:srgbClr val="F7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1a · El Punzón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333500" y="4877693"/>
            <a:ext cx="4552188" cy="1573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F7F9F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Oficio y garantía. La marca es el sello que el orfebre golpea dentro de la pieza. Gris frío, lacre, oro sólo en el sello.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" y="8643938"/>
            <a:ext cx="48615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RECOMENDADA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515100" y="2643188"/>
            <a:ext cx="5257800" cy="6729413"/>
          </a:xfrm>
          <a:prstGeom prst="roundRect">
            <a:avLst>
              <a:gd name="adj" fmla="val 543"/>
            </a:avLst>
          </a:prstGeom>
          <a:solidFill>
            <a:srgbClr val="F5EFE6"/>
          </a:solidFill>
          <a:ln w="9525">
            <a:solidFill>
              <a:srgbClr val="DCCF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3725" y="3071813"/>
            <a:ext cx="838200" cy="838200"/>
          </a:xfrm>
          <a:prstGeom prst="ellipse">
            <a:avLst/>
          </a:prstGeom>
          <a:solidFill>
            <a:srgbClr val="6E2436"/>
          </a:solidFill>
          <a:ln/>
        </p:spPr>
      </p:sp>
      <p:sp>
        <p:nvSpPr>
          <p:cNvPr id="12" name="Text 10"/>
          <p:cNvSpPr/>
          <p:nvPr/>
        </p:nvSpPr>
        <p:spPr>
          <a:xfrm>
            <a:off x="6905625" y="307181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75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6943725" y="4138613"/>
            <a:ext cx="4840605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 · La Diosa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943725" y="4887218"/>
            <a:ext cx="4532567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4A3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nombre viene de Lakshmi, diosa de la prosperidad. Crema, vino y latón; la joya como gesto y ocasión.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943725" y="8634413"/>
            <a:ext cx="48406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6B5B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EMOCIÓN · REGALO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2115800" y="2643188"/>
            <a:ext cx="5257800" cy="6729413"/>
          </a:xfrm>
          <a:prstGeom prst="roundRect">
            <a:avLst>
              <a:gd name="adj" fmla="val 543"/>
            </a:avLst>
          </a:prstGeom>
          <a:solidFill>
            <a:srgbClr val="FFFFFF"/>
          </a:solidFill>
          <a:ln w="9525">
            <a:solidFill>
              <a:srgbClr val="DED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44425" y="3071813"/>
            <a:ext cx="838200" cy="838200"/>
          </a:xfrm>
          <a:prstGeom prst="rect">
            <a:avLst/>
          </a:prstGeom>
          <a:solidFill>
            <a:srgbClr val="0E0E0E"/>
          </a:solidFill>
          <a:ln/>
        </p:spPr>
      </p:sp>
      <p:sp>
        <p:nvSpPr>
          <p:cNvPr id="18" name="Text 16"/>
          <p:cNvSpPr/>
          <p:nvPr/>
        </p:nvSpPr>
        <p:spPr>
          <a:xfrm>
            <a:off x="12506325" y="307181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spc="-114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LK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544425" y="4138613"/>
            <a:ext cx="4840605" cy="504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983"/>
              </a:lnSpc>
              <a:buNone/>
            </a:pPr>
            <a:r>
              <a:rPr lang="en-US" sz="3600" b="1" spc="-108" kern="0" dirty="0">
                <a:solidFill>
                  <a:srgbClr val="0E0E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1c · El Gramo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544425" y="4833491"/>
            <a:ext cx="4532567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Estética de ficha técnica. Negro, papel y azul dato. El precio siempre a la vista; rompe con el feed de joyerías.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544425" y="8634413"/>
            <a:ext cx="48406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B4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TRANSPARENCIA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1051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EL SELLO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58"/>
              </a:lnSpc>
              <a:buNone/>
            </a:pPr>
            <a:r>
              <a:rPr lang="en-US" sz="63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L golpeada en una caja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2586038"/>
            <a:ext cx="8162544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punzón es la marca que el orfebre golpea dentro de la pieza: dice quién la hizo y con qué ley. Ese es el sello de Laksmy — una </a:t>
            </a:r>
            <a:pPr algn="l" indent="0" marL="0">
              <a:lnSpc>
                <a:spcPct val="137846"/>
              </a:lnSpc>
              <a:buNone/>
            </a:pPr>
            <a:r>
              <a:rPr lang="en-US" sz="2100" b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</a:t>
            </a:r>
            <a:pPr algn="l" indent="0" marL="0">
              <a:lnSpc>
                <a:spcPct val="137846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Instrument Serif dentro de una caja de esquinas de 8px, con filete interior. Nada más.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4635698"/>
            <a:ext cx="1714500" cy="1714500"/>
          </a:xfrm>
          <a:prstGeom prst="roundRect">
            <a:avLst>
              <a:gd name="adj" fmla="val 6667"/>
            </a:avLst>
          </a:prstGeom>
          <a:solidFill>
            <a:srgbClr val="161D1C"/>
          </a:solidFill>
          <a:ln/>
        </p:spPr>
      </p:sp>
      <p:sp>
        <p:nvSpPr>
          <p:cNvPr id="6" name="Shape 4"/>
          <p:cNvSpPr/>
          <p:nvPr/>
        </p:nvSpPr>
        <p:spPr>
          <a:xfrm>
            <a:off x="1028700" y="4749998"/>
            <a:ext cx="1485900" cy="1485900"/>
          </a:xfrm>
          <a:prstGeom prst="roundRect">
            <a:avLst>
              <a:gd name="adj" fmla="val 3846"/>
            </a:avLst>
          </a:prstGeom>
          <a:ln w="9525">
            <a:solidFill>
              <a:srgbClr val="C79A50">
                <a:alpha val="3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4899" y="4978598"/>
            <a:ext cx="469627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06"/>
              </a:lnSpc>
              <a:buNone/>
            </a:pPr>
            <a:r>
              <a:rPr lang="en-US" sz="7500" dirty="0">
                <a:solidFill>
                  <a:srgbClr val="C79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1000125" y="6483548"/>
            <a:ext cx="16973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2933700" y="4635698"/>
            <a:ext cx="1714500" cy="1714500"/>
          </a:xfrm>
          <a:prstGeom prst="roundRect">
            <a:avLst>
              <a:gd name="adj" fmla="val 6667"/>
            </a:avLst>
          </a:prstGeom>
          <a:solidFill>
            <a:srgbClr val="F7F9F7"/>
          </a:solidFill>
          <a:ln w="9525">
            <a:solidFill>
              <a:srgbClr val="161D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5125" y="4645223"/>
            <a:ext cx="177165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0" dirty="0">
                <a:solidFill>
                  <a:srgbClr val="161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3190875" y="6483548"/>
            <a:ext cx="13201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TINTA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4953000" y="5169098"/>
            <a:ext cx="1181100" cy="1181100"/>
          </a:xfrm>
          <a:prstGeom prst="ellipse">
            <a:avLst/>
          </a:prstGeom>
          <a:solidFill>
            <a:srgbClr val="161D1C"/>
          </a:solidFill>
          <a:ln/>
        </p:spPr>
      </p:sp>
      <p:sp>
        <p:nvSpPr>
          <p:cNvPr id="13" name="Text 11"/>
          <p:cNvSpPr/>
          <p:nvPr/>
        </p:nvSpPr>
        <p:spPr>
          <a:xfrm>
            <a:off x="4914900" y="5169098"/>
            <a:ext cx="1257300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5100" dirty="0">
                <a:solidFill>
                  <a:srgbClr val="C79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5029200" y="6483548"/>
            <a:ext cx="11049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AVATAR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448800" y="2586038"/>
            <a:ext cx="7924800" cy="4610100"/>
          </a:xfrm>
          <a:prstGeom prst="roundRect">
            <a:avLst>
              <a:gd name="adj" fmla="val 620"/>
            </a:avLst>
          </a:prstGeom>
          <a:solidFill>
            <a:srgbClr val="E9ECEA"/>
          </a:solidFill>
          <a:ln w="9525">
            <a:solidFill>
              <a:srgbClr val="C9D0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15525" y="3052763"/>
            <a:ext cx="769048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WORDMARK Y BLOQUEO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915525" y="5043488"/>
            <a:ext cx="6991350" cy="9525"/>
          </a:xfrm>
          <a:prstGeom prst="rect">
            <a:avLst/>
          </a:prstGeom>
          <a:solidFill>
            <a:srgbClr val="C9D0CC"/>
          </a:solidFill>
          <a:ln/>
        </p:spPr>
      </p:sp>
      <p:sp>
        <p:nvSpPr>
          <p:cNvPr id="18" name="Shape 16"/>
          <p:cNvSpPr/>
          <p:nvPr/>
        </p:nvSpPr>
        <p:spPr>
          <a:xfrm>
            <a:off x="9915525" y="3707606"/>
            <a:ext cx="990600" cy="990600"/>
          </a:xfrm>
          <a:prstGeom prst="roundRect">
            <a:avLst>
              <a:gd name="adj" fmla="val 7692"/>
            </a:avLst>
          </a:prstGeom>
          <a:solidFill>
            <a:srgbClr val="161D1C"/>
          </a:solidFill>
          <a:ln/>
        </p:spPr>
      </p:sp>
      <p:sp>
        <p:nvSpPr>
          <p:cNvPr id="19" name="Text 17"/>
          <p:cNvSpPr/>
          <p:nvPr/>
        </p:nvSpPr>
        <p:spPr>
          <a:xfrm>
            <a:off x="9877425" y="3707606"/>
            <a:ext cx="10668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C79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1172825" y="3667125"/>
            <a:ext cx="4191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742"/>
              </a:lnSpc>
              <a:buNone/>
            </a:pPr>
            <a:r>
              <a:rPr lang="en-US" sz="5100" spc="357" kern="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LAKSMY</a:t>
            </a:r>
            <a:endParaRPr lang="en-US" sz="5100" dirty="0"/>
          </a:p>
        </p:txBody>
      </p:sp>
      <p:sp>
        <p:nvSpPr>
          <p:cNvPr id="21" name="Text 19"/>
          <p:cNvSpPr/>
          <p:nvPr/>
        </p:nvSpPr>
        <p:spPr>
          <a:xfrm>
            <a:off x="11172825" y="4429125"/>
            <a:ext cx="4191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ORFEBRERÍA · CARACAS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915525" y="5357813"/>
            <a:ext cx="720109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spc="72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ZONA DE RESPETO · 1× la altura de la L TAMAÑO MÍNIMO · · 24 px / 8 mm impreso TRACKING · · · · · +0.07em, siempre versales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1051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962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USOS INCORRECTOS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58"/>
              </a:lnSpc>
              <a:buNone/>
            </a:pPr>
            <a:r>
              <a:rPr lang="en-US" sz="6300" dirty="0">
                <a:solidFill>
                  <a:srgbClr val="F7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nunca se le hace al sello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5069681"/>
            <a:ext cx="3666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9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95338" y="5098256"/>
            <a:ext cx="36893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Degradado dorado en la L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553200" y="5069681"/>
            <a:ext cx="3666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9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034138" y="5098256"/>
            <a:ext cx="239517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Sombra o relieve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192000" y="5069681"/>
            <a:ext cx="3666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9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672938" y="5098256"/>
            <a:ext cx="334788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sobre foto sin caja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5803106"/>
            <a:ext cx="3666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9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95338" y="5831681"/>
            <a:ext cx="277424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Estirar o condensar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553200" y="5803106"/>
            <a:ext cx="3666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9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34138" y="5831681"/>
            <a:ext cx="44449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la serif por otra fuente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192000" y="5803106"/>
            <a:ext cx="3666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9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672938" y="5831681"/>
            <a:ext cx="182717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Rotar el sello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6536531"/>
            <a:ext cx="3666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9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95338" y="6565106"/>
            <a:ext cx="4022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lacre sobre fondo lacre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553200" y="6536531"/>
            <a:ext cx="3666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9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34138" y="6565106"/>
            <a:ext cx="397244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Rellenar la caja con una foto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192000" y="6536531"/>
            <a:ext cx="3666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000" dirty="0">
                <a:solidFill>
                  <a:srgbClr val="9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2672938" y="6565106"/>
            <a:ext cx="483250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Añadirle un lema dentro de la caja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1051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COLOR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58"/>
              </a:lnSpc>
              <a:buNone/>
            </a:pPr>
            <a:r>
              <a:rPr lang="en-US" sz="63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colores y una proporción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586038"/>
            <a:ext cx="2552700" cy="1809750"/>
          </a:xfrm>
          <a:prstGeom prst="roundRect">
            <a:avLst>
              <a:gd name="adj" fmla="val 1579"/>
            </a:avLst>
          </a:prstGeom>
          <a:solidFill>
            <a:srgbClr val="161D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29138"/>
            <a:ext cx="262928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1A2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#161D1C </a:t>
            </a:r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Piedra de toque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3695700" y="2586038"/>
            <a:ext cx="2552700" cy="1809750"/>
          </a:xfrm>
          <a:prstGeom prst="roundRect">
            <a:avLst>
              <a:gd name="adj" fmla="val 1579"/>
            </a:avLst>
          </a:prstGeom>
          <a:solidFill>
            <a:srgbClr val="E9ECEA"/>
          </a:solidFill>
          <a:ln w="9525">
            <a:solidFill>
              <a:srgbClr val="C9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95700" y="4529138"/>
            <a:ext cx="262928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1A2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#E9ECEA </a:t>
            </a:r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 bruñida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77000" y="2586038"/>
            <a:ext cx="2552700" cy="1809750"/>
          </a:xfrm>
          <a:prstGeom prst="roundRect">
            <a:avLst>
              <a:gd name="adj" fmla="val 1579"/>
            </a:avLst>
          </a:prstGeom>
          <a:solidFill>
            <a:srgbClr val="F7F9F7"/>
          </a:solidFill>
          <a:ln w="9525">
            <a:solidFill>
              <a:srgbClr val="C9D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0" y="4529138"/>
            <a:ext cx="262928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1A2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#F7F9F7 </a:t>
            </a:r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Blanco taller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58300" y="2586038"/>
            <a:ext cx="2552700" cy="1809750"/>
          </a:xfrm>
          <a:prstGeom prst="roundRect">
            <a:avLst>
              <a:gd name="adj" fmla="val 1579"/>
            </a:avLst>
          </a:prstGeom>
          <a:solidFill>
            <a:srgbClr val="96202F"/>
          </a:solidFill>
          <a:ln/>
        </p:spPr>
      </p:sp>
      <p:sp>
        <p:nvSpPr>
          <p:cNvPr id="11" name="Text 9"/>
          <p:cNvSpPr/>
          <p:nvPr/>
        </p:nvSpPr>
        <p:spPr>
          <a:xfrm>
            <a:off x="9258300" y="4529138"/>
            <a:ext cx="262928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1A2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#96202F </a:t>
            </a:r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Lacre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39600" y="2586038"/>
            <a:ext cx="2552700" cy="1809750"/>
          </a:xfrm>
          <a:prstGeom prst="roundRect">
            <a:avLst>
              <a:gd name="adj" fmla="val 1579"/>
            </a:avLst>
          </a:prstGeom>
          <a:solidFill>
            <a:srgbClr val="C79A50"/>
          </a:solidFill>
          <a:ln/>
        </p:spPr>
      </p:sp>
      <p:sp>
        <p:nvSpPr>
          <p:cNvPr id="13" name="Text 11"/>
          <p:cNvSpPr/>
          <p:nvPr/>
        </p:nvSpPr>
        <p:spPr>
          <a:xfrm>
            <a:off x="12039600" y="4529138"/>
            <a:ext cx="262928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1A2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#C79A50 </a:t>
            </a:r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 punzón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4820900" y="2586038"/>
            <a:ext cx="2552700" cy="1809750"/>
          </a:xfrm>
          <a:prstGeom prst="roundRect">
            <a:avLst>
              <a:gd name="adj" fmla="val 1579"/>
            </a:avLst>
          </a:prstGeom>
          <a:solidFill>
            <a:srgbClr val="565F5C"/>
          </a:solidFill>
          <a:ln/>
        </p:spPr>
      </p:sp>
      <p:sp>
        <p:nvSpPr>
          <p:cNvPr id="15" name="Text 13"/>
          <p:cNvSpPr/>
          <p:nvPr/>
        </p:nvSpPr>
        <p:spPr>
          <a:xfrm>
            <a:off x="14820900" y="4529138"/>
            <a:ext cx="262928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1A2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#565F5C </a:t>
            </a:r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Grafito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14400" y="5662613"/>
            <a:ext cx="9883155" cy="704850"/>
          </a:xfrm>
          <a:prstGeom prst="rect">
            <a:avLst/>
          </a:prstGeom>
          <a:solidFill>
            <a:srgbClr val="E9ECEA"/>
          </a:solidFill>
          <a:ln w="9525">
            <a:solidFill>
              <a:srgbClr val="C9D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7555" y="5662613"/>
            <a:ext cx="4110038" cy="704850"/>
          </a:xfrm>
          <a:prstGeom prst="rect">
            <a:avLst/>
          </a:prstGeom>
          <a:solidFill>
            <a:srgbClr val="161D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4907592" y="5662613"/>
            <a:ext cx="1644030" cy="70485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51622" y="5662613"/>
            <a:ext cx="657597" cy="704850"/>
          </a:xfrm>
          <a:prstGeom prst="rect">
            <a:avLst/>
          </a:prstGeom>
          <a:solidFill>
            <a:srgbClr val="96202F"/>
          </a:solidFill>
          <a:ln/>
        </p:spPr>
      </p:sp>
      <p:sp>
        <p:nvSpPr>
          <p:cNvPr id="20" name="Shape 18"/>
          <p:cNvSpPr/>
          <p:nvPr/>
        </p:nvSpPr>
        <p:spPr>
          <a:xfrm>
            <a:off x="17209219" y="5662613"/>
            <a:ext cx="164381" cy="704850"/>
          </a:xfrm>
          <a:prstGeom prst="rect">
            <a:avLst/>
          </a:prstGeom>
          <a:solidFill>
            <a:srgbClr val="C79A5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6519863"/>
            <a:ext cx="181051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FONDO · 25 OSCURO · 10 PANEL · 4 LACRE · 1 ORO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7239000"/>
            <a:ext cx="16952976" cy="869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lacre es el </a:t>
            </a:r>
            <a:pPr algn="l" indent="0" marL="0">
              <a:lnSpc>
                <a:spcPct val="133538"/>
              </a:lnSpc>
              <a:buNone/>
            </a:pPr>
            <a:r>
              <a:rPr lang="en-US" sz="2100" b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 </a:t>
            </a:r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de acción: botón, foco, barra de WhatsApp. El oro nunca hace de fondo ni de texto de párrafo — sólo filetes y el sello.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1051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02B · EL ESPECTRO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58"/>
              </a:lnSpc>
              <a:buNone/>
            </a:pPr>
            <a:r>
              <a:rPr lang="en-US" sz="63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Siete piedras — sólo en anillos de grado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662238"/>
            <a:ext cx="2187997" cy="4374877"/>
          </a:xfrm>
          <a:prstGeom prst="roundRect">
            <a:avLst>
              <a:gd name="adj" fmla="val 1306"/>
            </a:avLst>
          </a:prstGeom>
          <a:solidFill>
            <a:srgbClr val="20458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7208565"/>
            <a:ext cx="2406796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43"/>
              </a:lnSpc>
              <a:buNone/>
            </a:pPr>
            <a:r>
              <a:rPr lang="en-US" sz="255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Zafiro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7736235"/>
            <a:ext cx="24067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INGENIERÍAS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3292897" y="2662238"/>
            <a:ext cx="2187997" cy="4374877"/>
          </a:xfrm>
          <a:prstGeom prst="roundRect">
            <a:avLst>
              <a:gd name="adj" fmla="val 1306"/>
            </a:avLst>
          </a:prstGeom>
          <a:solidFill>
            <a:srgbClr val="0F6B4A"/>
          </a:solidFill>
          <a:ln/>
        </p:spPr>
      </p:sp>
      <p:sp>
        <p:nvSpPr>
          <p:cNvPr id="8" name="Text 6"/>
          <p:cNvSpPr/>
          <p:nvPr/>
        </p:nvSpPr>
        <p:spPr>
          <a:xfrm>
            <a:off x="3292897" y="7208565"/>
            <a:ext cx="2406796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43"/>
              </a:lnSpc>
              <a:buNone/>
            </a:pPr>
            <a:r>
              <a:rPr lang="en-US" sz="255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Esmeralda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3292897" y="7736235"/>
            <a:ext cx="24067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MEDICINA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671393" y="2662238"/>
            <a:ext cx="2188071" cy="4374877"/>
          </a:xfrm>
          <a:prstGeom prst="roundRect">
            <a:avLst>
              <a:gd name="adj" fmla="val 1306"/>
            </a:avLst>
          </a:prstGeom>
          <a:solidFill>
            <a:srgbClr val="9E2233"/>
          </a:solidFill>
          <a:ln/>
        </p:spPr>
      </p:sp>
      <p:sp>
        <p:nvSpPr>
          <p:cNvPr id="11" name="Text 9"/>
          <p:cNvSpPr/>
          <p:nvPr/>
        </p:nvSpPr>
        <p:spPr>
          <a:xfrm>
            <a:off x="5671393" y="7208565"/>
            <a:ext cx="2406878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43"/>
              </a:lnSpc>
              <a:buNone/>
            </a:pPr>
            <a:r>
              <a:rPr lang="en-US" sz="255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Granate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671393" y="7736235"/>
            <a:ext cx="24068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DERECHO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8049964" y="2662238"/>
            <a:ext cx="2187997" cy="4374877"/>
          </a:xfrm>
          <a:prstGeom prst="roundRect">
            <a:avLst>
              <a:gd name="adj" fmla="val 1306"/>
            </a:avLst>
          </a:prstGeom>
          <a:solidFill>
            <a:srgbClr val="8A641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9964" y="7208565"/>
            <a:ext cx="2406796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43"/>
              </a:lnSpc>
              <a:buNone/>
            </a:pPr>
            <a:r>
              <a:rPr lang="en-US" sz="255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Citrino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049964" y="7736235"/>
            <a:ext cx="24067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FARMACIA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428461" y="2662238"/>
            <a:ext cx="2188071" cy="4374877"/>
          </a:xfrm>
          <a:prstGeom prst="roundRect">
            <a:avLst>
              <a:gd name="adj" fmla="val 1306"/>
            </a:avLst>
          </a:prstGeom>
          <a:solidFill>
            <a:srgbClr val="5B3A87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8461" y="7208565"/>
            <a:ext cx="2406878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43"/>
              </a:lnSpc>
              <a:buNone/>
            </a:pPr>
            <a:r>
              <a:rPr lang="en-US" sz="255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Amatista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428461" y="7736235"/>
            <a:ext cx="24068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807032" y="2662238"/>
            <a:ext cx="2187997" cy="4374877"/>
          </a:xfrm>
          <a:prstGeom prst="roundRect">
            <a:avLst>
              <a:gd name="adj" fmla="val 1306"/>
            </a:avLst>
          </a:prstGeom>
          <a:solidFill>
            <a:srgbClr val="A83A6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7032" y="7208565"/>
            <a:ext cx="2406796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43"/>
              </a:lnSpc>
              <a:buNone/>
            </a:pPr>
            <a:r>
              <a:rPr lang="en-US" sz="255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Turmalina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807032" y="7736235"/>
            <a:ext cx="24067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DISEÑO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5185529" y="2662238"/>
            <a:ext cx="2187997" cy="4374877"/>
          </a:xfrm>
          <a:prstGeom prst="roundRect">
            <a:avLst>
              <a:gd name="adj" fmla="val 1306"/>
            </a:avLst>
          </a:prstGeom>
          <a:solidFill>
            <a:srgbClr val="C9CFC9"/>
          </a:solidFill>
          <a:ln/>
        </p:spPr>
      </p:sp>
      <p:sp>
        <p:nvSpPr>
          <p:cNvPr id="23" name="Text 21"/>
          <p:cNvSpPr/>
          <p:nvPr/>
        </p:nvSpPr>
        <p:spPr>
          <a:xfrm>
            <a:off x="15185529" y="7208565"/>
            <a:ext cx="2406796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43"/>
              </a:lnSpc>
              <a:buNone/>
            </a:pPr>
            <a:r>
              <a:rPr lang="en-US" sz="255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Cuarzo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5185529" y="7736235"/>
            <a:ext cx="24067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CUALQUIERA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14400" y="8541097"/>
            <a:ext cx="28575" cy="831503"/>
          </a:xfrm>
          <a:prstGeom prst="rect">
            <a:avLst/>
          </a:prstGeom>
          <a:solidFill>
            <a:srgbClr val="96202F"/>
          </a:solidFill>
          <a:ln/>
        </p:spPr>
      </p:sp>
      <p:sp>
        <p:nvSpPr>
          <p:cNvPr id="26" name="Text 24"/>
          <p:cNvSpPr/>
          <p:nvPr/>
        </p:nvSpPr>
        <p:spPr>
          <a:xfrm>
            <a:off x="1209675" y="8541097"/>
            <a:ext cx="16657701" cy="869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piedra no amarra el modelo. El color </a:t>
            </a:r>
            <a:pPr algn="l" indent="0" marL="0">
              <a:lnSpc>
                <a:spcPct val="133538"/>
              </a:lnSpc>
              <a:buNone/>
            </a:pPr>
            <a:r>
              <a:rPr lang="en-US" sz="2100" b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referencias </a:t>
            </a:r>
            <a:pPr algn="l" indent="0" marL="0">
              <a:lnSpc>
                <a:spcPct val="133538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limita el pedido: si te gustó un anillo pero lo viste con otra piedra, se le pone la que quieras.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1051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TIPOGRAFÍA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58"/>
              </a:lnSpc>
              <a:buNone/>
            </a:pPr>
            <a:r>
              <a:rPr lang="en-US" sz="63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familias, una sola pesa de display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4209604"/>
            <a:ext cx="16459200" cy="9525"/>
          </a:xfrm>
          <a:prstGeom prst="rect">
            <a:avLst/>
          </a:prstGeom>
          <a:solidFill>
            <a:srgbClr val="C9D0C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23816"/>
            <a:ext cx="2409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400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3486150" y="3257104"/>
            <a:ext cx="4616157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57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Oro que se queda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914400" y="5243959"/>
            <a:ext cx="16459200" cy="9525"/>
          </a:xfrm>
          <a:prstGeom prst="rect">
            <a:avLst/>
          </a:prstGeom>
          <a:solidFill>
            <a:srgbClr val="C9D0C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662041"/>
            <a:ext cx="2409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ITÁLICA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486150" y="4466779"/>
            <a:ext cx="7630976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88"/>
              </a:lnSpc>
              <a:buNone/>
            </a:pPr>
            <a:r>
              <a:rPr lang="en-US" sz="3600" i="1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matiz, nunca para el titular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6172646"/>
            <a:ext cx="16459200" cy="9525"/>
          </a:xfrm>
          <a:prstGeom prst="rect">
            <a:avLst/>
          </a:prstGeom>
          <a:solidFill>
            <a:srgbClr val="C9D0C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615434"/>
            <a:ext cx="2409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 600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3486150" y="5501134"/>
            <a:ext cx="553310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Anillos de grado con tu piedra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115621"/>
            <a:ext cx="16459200" cy="9525"/>
          </a:xfrm>
          <a:prstGeom prst="rect">
            <a:avLst/>
          </a:prstGeom>
          <a:solidFill>
            <a:srgbClr val="C9D0C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6529834"/>
            <a:ext cx="2409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CUERPO 400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3486150" y="6429821"/>
            <a:ext cx="836497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fabrica por encargo en el taller, en la ley que escojas.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7949059"/>
            <a:ext cx="16459200" cy="9525"/>
          </a:xfrm>
          <a:prstGeom prst="rect">
            <a:avLst/>
          </a:prstGeom>
          <a:solidFill>
            <a:srgbClr val="C9D0C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7401371"/>
            <a:ext cx="2409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PUNZÓN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3486150" y="7372796"/>
            <a:ext cx="579700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1A2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HECHO EN CARACAS · ENCARGO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344346"/>
            <a:ext cx="2409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 500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3486150" y="8206234"/>
            <a:ext cx="623624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1A2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18K · 9,5 g · $1.447 USD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0797"/>
            <a:ext cx="86334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VOZ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3011835"/>
            <a:ext cx="8084058" cy="19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77"/>
              </a:lnSpc>
              <a:buNone/>
            </a:pPr>
            <a:r>
              <a:rPr lang="en-US" sz="7200" dirty="0">
                <a:solidFill>
                  <a:srgbClr val="F7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hace aquí. Se marca aquí.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5313015"/>
            <a:ext cx="8084058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250" dirty="0">
                <a:solidFill>
                  <a:srgbClr val="F7F9F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Frases cortas, verbo primero. El taller es el personaje, no la marca. Se tutea. Los precios se dicen; nunca «escríbenos por precio».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14400" y="7022753"/>
            <a:ext cx="3734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40210" y="7022753"/>
            <a:ext cx="67183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7F9F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· gramo · encargo · taller · garantía · a tu talla · desde $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7584728"/>
            <a:ext cx="3734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962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40210" y="7584728"/>
            <a:ext cx="68630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7F9F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exclusivo · lujo · único · glamour · MAYÚSCULAS gritando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5000" y="2374106"/>
            <a:ext cx="86334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7F9F7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CUATRO MENSAJES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0" y="2978944"/>
            <a:ext cx="28575" cy="1190625"/>
          </a:xfrm>
          <a:prstGeom prst="rect">
            <a:avLst/>
          </a:prstGeom>
          <a:solidFill>
            <a:srgbClr val="C79A50"/>
          </a:solidFill>
          <a:ln/>
        </p:spPr>
      </p:sp>
      <p:sp>
        <p:nvSpPr>
          <p:cNvPr id="11" name="Text 9"/>
          <p:cNvSpPr/>
          <p:nvPr/>
        </p:nvSpPr>
        <p:spPr>
          <a:xfrm>
            <a:off x="9820275" y="2978944"/>
            <a:ext cx="8308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propio.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820275" y="3426619"/>
            <a:ext cx="77799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7F9F7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revendemos: fundimos, laminamos, engastamos y pulimos aquí.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0" y="4474369"/>
            <a:ext cx="28575" cy="819150"/>
          </a:xfrm>
          <a:prstGeom prst="rect">
            <a:avLst/>
          </a:prstGeom>
          <a:solidFill>
            <a:srgbClr val="C79A50"/>
          </a:solidFill>
          <a:ln/>
        </p:spPr>
      </p:sp>
      <p:sp>
        <p:nvSpPr>
          <p:cNvPr id="14" name="Text 12"/>
          <p:cNvSpPr/>
          <p:nvPr/>
        </p:nvSpPr>
        <p:spPr>
          <a:xfrm>
            <a:off x="9820275" y="4474369"/>
            <a:ext cx="8308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ley, tu presupuesto.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20275" y="4922044"/>
            <a:ext cx="8308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7F9F7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pieza en plata 950, oro 10k, 14k o 18k. La decisión es tuya.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0" y="5598319"/>
            <a:ext cx="28575" cy="1190625"/>
          </a:xfrm>
          <a:prstGeom prst="rect">
            <a:avLst/>
          </a:prstGeom>
          <a:solidFill>
            <a:srgbClr val="C79A50"/>
          </a:solidFill>
          <a:ln/>
        </p:spPr>
      </p:sp>
      <p:sp>
        <p:nvSpPr>
          <p:cNvPr id="17" name="Text 15"/>
          <p:cNvSpPr/>
          <p:nvPr/>
        </p:nvSpPr>
        <p:spPr>
          <a:xfrm>
            <a:off x="9820275" y="5598319"/>
            <a:ext cx="8308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oro guarda valor.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20275" y="6045994"/>
            <a:ext cx="77799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7F9F7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usa y a la vez resguarda. Argumento honesto, con el precio del metal a la vista.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25000" y="7093744"/>
            <a:ext cx="28575" cy="819150"/>
          </a:xfrm>
          <a:prstGeom prst="rect">
            <a:avLst/>
          </a:prstGeom>
          <a:solidFill>
            <a:srgbClr val="C79A50"/>
          </a:solidFill>
          <a:ln/>
        </p:spPr>
      </p:sp>
      <p:sp>
        <p:nvSpPr>
          <p:cNvPr id="20" name="Text 18"/>
          <p:cNvSpPr/>
          <p:nvPr/>
        </p:nvSpPr>
        <p:spPr>
          <a:xfrm>
            <a:off x="9820275" y="7093744"/>
            <a:ext cx="8308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medida.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20275" y="7541419"/>
            <a:ext cx="8308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7F9F7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Traes una foto o una idea; se cotiza y se hace.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1051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FOTOGRAFÍA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58"/>
              </a:lnSpc>
              <a:buNone/>
            </a:pPr>
            <a:r>
              <a:rPr lang="en-US" sz="63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pieza completa, sobre el tinte de su material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586038"/>
            <a:ext cx="4000500" cy="6786563"/>
          </a:xfrm>
          <a:prstGeom prst="roundRect">
            <a:avLst>
              <a:gd name="adj" fmla="val 714"/>
            </a:avLst>
          </a:prstGeom>
          <a:solidFill>
            <a:srgbClr val="EFEAD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3769519"/>
            <a:ext cx="3695700" cy="4419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2586038"/>
            <a:ext cx="4000500" cy="6786563"/>
          </a:xfrm>
          <a:prstGeom prst="roundRect">
            <a:avLst>
              <a:gd name="adj" fmla="val 714"/>
            </a:avLst>
          </a:prstGeom>
          <a:solidFill>
            <a:srgbClr val="EFEAD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29" r="-29" t="0" b="0"/>
          <a:stretch/>
        </p:blipFill>
        <p:spPr>
          <a:xfrm>
            <a:off x="5257800" y="4064794"/>
            <a:ext cx="4000500" cy="3829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0" y="4188619"/>
            <a:ext cx="8005572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neutro frío o el tinte del material. Luz difusa, una sola fuente, sin destellos quemados. La pieza entra completa en el cuadro.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9601200" y="5784056"/>
            <a:ext cx="28575" cy="804863"/>
          </a:xfrm>
          <a:prstGeom prst="rect">
            <a:avLst/>
          </a:prstGeom>
          <a:solidFill>
            <a:srgbClr val="96202F"/>
          </a:solidFill>
          <a:ln/>
        </p:spPr>
      </p:sp>
      <p:sp>
        <p:nvSpPr>
          <p:cNvPr id="10" name="Text 6"/>
          <p:cNvSpPr/>
          <p:nvPr/>
        </p:nvSpPr>
        <p:spPr>
          <a:xfrm>
            <a:off x="9896475" y="5784056"/>
            <a:ext cx="7710297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con marca de agua, ícono de red social ni recorte del carrusel. Una ficha limpia es mejor que una foto sucia.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9601200" y="6855619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spc="72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FONDOS · · #EFEADC ORO · #E4EAEC PLATA FORMATO · 1:1 CATÁLOGO · 4:5 FEED · 9:16 HISTORIA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66900" cy="1866900"/>
          </a:xfrm>
          <a:prstGeom prst="roundRect">
            <a:avLst>
              <a:gd name="adj" fmla="val 1531"/>
            </a:avLst>
          </a:prstGeom>
          <a:solidFill>
            <a:srgbClr val="161D1C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914400"/>
            <a:ext cx="194310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C79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933700" y="914400"/>
            <a:ext cx="1866900" cy="1866900"/>
          </a:xfrm>
          <a:prstGeom prst="roundRect">
            <a:avLst>
              <a:gd name="adj" fmla="val 1531"/>
            </a:avLst>
          </a:prstGeom>
          <a:solidFill>
            <a:srgbClr val="EFEADC"/>
          </a:solidFill>
          <a:ln/>
        </p:spPr>
      </p:sp>
      <p:sp>
        <p:nvSpPr>
          <p:cNvPr id="5" name="Text 3"/>
          <p:cNvSpPr/>
          <p:nvPr/>
        </p:nvSpPr>
        <p:spPr>
          <a:xfrm>
            <a:off x="2895600" y="914400"/>
            <a:ext cx="194310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161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953000" y="914400"/>
            <a:ext cx="1866900" cy="1866900"/>
          </a:xfrm>
          <a:prstGeom prst="roundRect">
            <a:avLst>
              <a:gd name="adj" fmla="val 1531"/>
            </a:avLst>
          </a:prstGeom>
          <a:solidFill>
            <a:srgbClr val="F7F9F7"/>
          </a:solidFill>
          <a:ln w="9525">
            <a:solidFill>
              <a:srgbClr val="C9D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4425" y="923925"/>
            <a:ext cx="1924050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161D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14400" y="2933700"/>
            <a:ext cx="1866900" cy="1866900"/>
          </a:xfrm>
          <a:prstGeom prst="roundRect">
            <a:avLst>
              <a:gd name="adj" fmla="val 1531"/>
            </a:avLst>
          </a:prstGeom>
          <a:solidFill>
            <a:srgbClr val="EFEADC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" y="2933700"/>
            <a:ext cx="194310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161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2933700" y="2933700"/>
            <a:ext cx="1866900" cy="1866900"/>
          </a:xfrm>
          <a:prstGeom prst="roundRect">
            <a:avLst>
              <a:gd name="adj" fmla="val 1531"/>
            </a:avLst>
          </a:prstGeom>
          <a:solidFill>
            <a:srgbClr val="96202F"/>
          </a:solidFill>
          <a:ln/>
        </p:spPr>
      </p:sp>
      <p:sp>
        <p:nvSpPr>
          <p:cNvPr id="11" name="Text 9"/>
          <p:cNvSpPr/>
          <p:nvPr/>
        </p:nvSpPr>
        <p:spPr>
          <a:xfrm>
            <a:off x="2895600" y="2933700"/>
            <a:ext cx="194310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F7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4953000" y="2933700"/>
            <a:ext cx="1866900" cy="1866900"/>
          </a:xfrm>
          <a:prstGeom prst="roundRect">
            <a:avLst>
              <a:gd name="adj" fmla="val 1531"/>
            </a:avLst>
          </a:prstGeom>
          <a:solidFill>
            <a:srgbClr val="161D1C"/>
          </a:solidFill>
          <a:ln/>
        </p:spPr>
      </p:sp>
      <p:sp>
        <p:nvSpPr>
          <p:cNvPr id="13" name="Text 11"/>
          <p:cNvSpPr/>
          <p:nvPr/>
        </p:nvSpPr>
        <p:spPr>
          <a:xfrm>
            <a:off x="4914900" y="2933700"/>
            <a:ext cx="194310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C79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914400" y="4953000"/>
            <a:ext cx="1866900" cy="1866900"/>
          </a:xfrm>
          <a:prstGeom prst="roundRect">
            <a:avLst>
              <a:gd name="adj" fmla="val 1531"/>
            </a:avLst>
          </a:prstGeom>
          <a:solidFill>
            <a:srgbClr val="F7F9F7"/>
          </a:solidFill>
          <a:ln w="9525">
            <a:solidFill>
              <a:srgbClr val="C9D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4962525"/>
            <a:ext cx="1924050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161D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2933700" y="4953000"/>
            <a:ext cx="1866900" cy="1866900"/>
          </a:xfrm>
          <a:prstGeom prst="roundRect">
            <a:avLst>
              <a:gd name="adj" fmla="val 1531"/>
            </a:avLst>
          </a:prstGeom>
          <a:solidFill>
            <a:srgbClr val="EFEADC"/>
          </a:solidFill>
          <a:ln/>
        </p:spPr>
      </p:sp>
      <p:sp>
        <p:nvSpPr>
          <p:cNvPr id="17" name="Text 15"/>
          <p:cNvSpPr/>
          <p:nvPr/>
        </p:nvSpPr>
        <p:spPr>
          <a:xfrm>
            <a:off x="2895600" y="4953000"/>
            <a:ext cx="194310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161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4953000" y="4953000"/>
            <a:ext cx="1866900" cy="1866900"/>
          </a:xfrm>
          <a:prstGeom prst="roundRect">
            <a:avLst>
              <a:gd name="adj" fmla="val 1531"/>
            </a:avLst>
          </a:prstGeom>
          <a:solidFill>
            <a:srgbClr val="161D1C"/>
          </a:solidFill>
          <a:ln/>
        </p:spPr>
      </p:sp>
      <p:sp>
        <p:nvSpPr>
          <p:cNvPr id="19" name="Text 17"/>
          <p:cNvSpPr/>
          <p:nvPr/>
        </p:nvSpPr>
        <p:spPr>
          <a:xfrm>
            <a:off x="4914900" y="4953000"/>
            <a:ext cx="1943100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C79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581900" y="2678906"/>
            <a:ext cx="107708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SISTEMA DE FEED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81900" y="3283744"/>
            <a:ext cx="107708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57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tipos, en rotación</a:t>
            </a:r>
            <a:endParaRPr lang="en-US" sz="5700" dirty="0"/>
          </a:p>
        </p:txBody>
      </p:sp>
      <p:sp>
        <p:nvSpPr>
          <p:cNvPr id="22" name="Text 20"/>
          <p:cNvSpPr/>
          <p:nvPr/>
        </p:nvSpPr>
        <p:spPr>
          <a:xfrm>
            <a:off x="7581900" y="4312444"/>
            <a:ext cx="1077087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Titular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fondo Piedra de Toque, frase de marca.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581900" y="4907756"/>
            <a:ext cx="1077087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Pieza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foto sobre tinte de material, precio visible.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581900" y="5503069"/>
            <a:ext cx="1077087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Ficha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datos en DM Mono: ley, gramo, precio por material.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581900" y="6098381"/>
            <a:ext cx="1077087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Taller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proceso, manos, banco. Lacre sólo aquí.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7581900" y="6807994"/>
            <a:ext cx="28575" cy="800100"/>
          </a:xfrm>
          <a:prstGeom prst="rect">
            <a:avLst/>
          </a:prstGeom>
          <a:solidFill>
            <a:srgbClr val="96202F"/>
          </a:solidFill>
          <a:ln/>
        </p:spPr>
      </p:sp>
      <p:sp>
        <p:nvSpPr>
          <p:cNvPr id="27" name="Text 25"/>
          <p:cNvSpPr/>
          <p:nvPr/>
        </p:nvSpPr>
        <p:spPr>
          <a:xfrm>
            <a:off x="7877175" y="6807994"/>
            <a:ext cx="97901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de cada tres publicaciones llevan un precio a la vista. Es lo que abre la conversación con quien no se atreve a preguntar.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1051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APLICACIONES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58"/>
              </a:lnSpc>
              <a:buNone/>
            </a:pPr>
            <a:r>
              <a:rPr lang="en-US" sz="63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Tarjeta, empaque, garantía, sticker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4271963"/>
            <a:ext cx="5143500" cy="2990850"/>
          </a:xfrm>
          <a:prstGeom prst="roundRect">
            <a:avLst>
              <a:gd name="adj" fmla="val 1911"/>
            </a:avLst>
          </a:prstGeom>
          <a:solidFill>
            <a:srgbClr val="161D1C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4652963"/>
            <a:ext cx="628650" cy="628650"/>
          </a:xfrm>
          <a:prstGeom prst="roundRect">
            <a:avLst>
              <a:gd name="adj" fmla="val 9091"/>
            </a:avLst>
          </a:prstGeom>
          <a:ln w="9525">
            <a:solidFill>
              <a:srgbClr val="C79A50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466248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C79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3262461" y="4652963"/>
            <a:ext cx="2414439" cy="588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2105"/>
              </a:lnSpc>
              <a:buNone/>
            </a:pPr>
            <a:r>
              <a:rPr lang="en-US" sz="1275" spc="204" kern="0" dirty="0">
                <a:solidFill>
                  <a:srgbClr val="F7F9F7">
                    <a:alpha val="6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ORO 10K · 14K · 18K PLATA LEY 950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295400" y="6057900"/>
            <a:ext cx="48196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719"/>
              </a:lnSpc>
              <a:buNone/>
            </a:pPr>
            <a:r>
              <a:rPr lang="en-US" sz="3750" spc="263" kern="0" dirty="0">
                <a:solidFill>
                  <a:srgbClr val="F7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LAKSMY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295400" y="6667500"/>
            <a:ext cx="48196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66" kern="0" dirty="0">
                <a:solidFill>
                  <a:srgbClr val="F7F9F7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0414 246 4755 · CARACAS · @laksmy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914400" y="7415213"/>
            <a:ext cx="56578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TARJETA 90×50 MM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438900" y="4271963"/>
            <a:ext cx="2990850" cy="2990850"/>
          </a:xfrm>
          <a:prstGeom prst="roundRect">
            <a:avLst>
              <a:gd name="adj" fmla="val 1911"/>
            </a:avLst>
          </a:prstGeom>
          <a:solidFill>
            <a:srgbClr val="E9ECEA"/>
          </a:solidFill>
          <a:ln w="9525">
            <a:solidFill>
              <a:srgbClr val="C9D0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6175" y="4810125"/>
            <a:ext cx="876300" cy="876300"/>
          </a:xfrm>
          <a:prstGeom prst="roundRect">
            <a:avLst>
              <a:gd name="adj" fmla="val 8696"/>
            </a:avLst>
          </a:prstGeom>
          <a:solidFill>
            <a:srgbClr val="161D1C"/>
          </a:solidFill>
          <a:ln/>
        </p:spPr>
      </p:sp>
      <p:sp>
        <p:nvSpPr>
          <p:cNvPr id="13" name="Text 11"/>
          <p:cNvSpPr/>
          <p:nvPr/>
        </p:nvSpPr>
        <p:spPr>
          <a:xfrm>
            <a:off x="7458075" y="4810125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C79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7383884" y="5895975"/>
            <a:ext cx="117700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230" kern="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LAKSMY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776070" y="6524625"/>
            <a:ext cx="25481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CAJA · BOLSA · SOBRE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38900" y="7415213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EMPAQUE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810750" y="4271963"/>
            <a:ext cx="3810000" cy="2990850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9525">
            <a:solidFill>
              <a:srgbClr val="C9D0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06025" y="4567238"/>
            <a:ext cx="400050" cy="400050"/>
          </a:xfrm>
          <a:prstGeom prst="roundRect">
            <a:avLst>
              <a:gd name="adj" fmla="val 9524"/>
            </a:avLst>
          </a:prstGeom>
          <a:solidFill>
            <a:srgbClr val="161D1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67925" y="4567238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79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639425" y="4674394"/>
            <a:ext cx="23888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CERTIFICADO DE PIEZA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10106025" y="5119688"/>
            <a:ext cx="3219450" cy="9525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6025" y="5281613"/>
            <a:ext cx="3316034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1220"/>
              </a:lnSpc>
              <a:buNone/>
            </a:pPr>
            <a:r>
              <a:rPr lang="en-US" sz="1350" spc="27" kern="0" dirty="0">
                <a:solidFill>
                  <a:srgbClr val="1A21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PIEZA · · Anillo de Grado PIEDRA · Granate · Derecho LEY · · · Oro 18K PESO · · 9,5 g · TALLA 7 FECHA · 09 · 08 · 2026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810750" y="7415213"/>
            <a:ext cx="4191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TARJETA DE GARANTÍA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4001750" y="4271963"/>
            <a:ext cx="2990850" cy="2990850"/>
          </a:xfrm>
          <a:prstGeom prst="roundRect">
            <a:avLst>
              <a:gd name="adj" fmla="val 1911"/>
            </a:avLst>
          </a:prstGeom>
          <a:solidFill>
            <a:srgbClr val="96202F"/>
          </a:solidFill>
          <a:ln/>
        </p:spPr>
      </p:sp>
      <p:sp>
        <p:nvSpPr>
          <p:cNvPr id="25" name="Text 23"/>
          <p:cNvSpPr/>
          <p:nvPr/>
        </p:nvSpPr>
        <p:spPr>
          <a:xfrm>
            <a:off x="14741128" y="5052120"/>
            <a:ext cx="1512094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1200"/>
              </a:lnSpc>
              <a:buNone/>
            </a:pPr>
            <a:r>
              <a:rPr lang="en-US" sz="3300" dirty="0">
                <a:solidFill>
                  <a:srgbClr val="F7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Pide por WhatsApp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4448361" y="6206430"/>
            <a:ext cx="20976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165" kern="0" dirty="0">
                <a:solidFill>
                  <a:srgbClr val="F7F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0414 246 4755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001750" y="7415213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STICKER / CTA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685800"/>
            <a:ext cx="7134225" cy="8915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34425" y="1444675"/>
            <a:ext cx="950309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 · 1080×1350 · TIPO C «FICHA»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734425" y="2049512"/>
            <a:ext cx="8898350" cy="1359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97"/>
              </a:lnSpc>
              <a:buNone/>
            </a:pPr>
            <a:r>
              <a:rPr lang="en-US" sz="51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mismo modelo, cuatro maneras de comprarlo</a:t>
            </a:r>
            <a:endParaRPr lang="en-US" sz="5100" dirty="0"/>
          </a:p>
        </p:txBody>
      </p:sp>
      <p:sp>
        <p:nvSpPr>
          <p:cNvPr id="5" name="Shape 2"/>
          <p:cNvSpPr/>
          <p:nvPr/>
        </p:nvSpPr>
        <p:spPr>
          <a:xfrm>
            <a:off x="8734425" y="3675608"/>
            <a:ext cx="8639175" cy="5166717"/>
          </a:xfrm>
          <a:prstGeom prst="roundRect">
            <a:avLst>
              <a:gd name="adj" fmla="val 553"/>
            </a:avLst>
          </a:prstGeom>
          <a:solidFill>
            <a:srgbClr val="F7F9F7"/>
          </a:solidFill>
          <a:ln/>
        </p:spPr>
      </p:sp>
      <p:sp>
        <p:nvSpPr>
          <p:cNvPr id="6" name="Shape 3"/>
          <p:cNvSpPr/>
          <p:nvPr/>
        </p:nvSpPr>
        <p:spPr>
          <a:xfrm>
            <a:off x="8734425" y="8832800"/>
            <a:ext cx="8639175" cy="9525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7" name="Shape 4"/>
          <p:cNvSpPr/>
          <p:nvPr/>
        </p:nvSpPr>
        <p:spPr>
          <a:xfrm>
            <a:off x="8734425" y="3675608"/>
            <a:ext cx="8639175" cy="9525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8" name="Shape 5"/>
          <p:cNvSpPr/>
          <p:nvPr/>
        </p:nvSpPr>
        <p:spPr>
          <a:xfrm>
            <a:off x="8734425" y="3675608"/>
            <a:ext cx="28575" cy="5166717"/>
          </a:xfrm>
          <a:prstGeom prst="rect">
            <a:avLst/>
          </a:prstGeom>
          <a:solidFill>
            <a:srgbClr val="96202F"/>
          </a:solidFill>
          <a:ln/>
        </p:spPr>
      </p:sp>
      <p:sp>
        <p:nvSpPr>
          <p:cNvPr id="9" name="Shape 6"/>
          <p:cNvSpPr/>
          <p:nvPr/>
        </p:nvSpPr>
        <p:spPr>
          <a:xfrm>
            <a:off x="17364075" y="3675608"/>
            <a:ext cx="9525" cy="5166717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10" name="Text 7"/>
          <p:cNvSpPr/>
          <p:nvPr/>
        </p:nvSpPr>
        <p:spPr>
          <a:xfrm>
            <a:off x="9105900" y="4028033"/>
            <a:ext cx="87068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DEL POST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9105900" y="4528096"/>
            <a:ext cx="8152733" cy="399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1A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modelo, cuatro maneras de comprarlo. En plata Ley 950 arranca en $138; en oro 18k son $1.447. Es la misma pieza, hecha en nuestro taller, con la piedra de tu carrera y tu grabado por dentro. No hay que escribir «precio?» — aquí están. Y si quieres cambiar la piedra, se cambia: la piedra no amarra el modelo. 📍 Caracas · WhatsApp 0414-246-4755 </a:t>
            </a:r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56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#AnillosDeGrado #Graduación #JoyeríaCaracas #PlataLey950 #Laksmy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28700"/>
            <a:ext cx="8229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29800" y="1444675"/>
            <a:ext cx="82981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 · 1080×1080 · TIPO A «TITULAR»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829800" y="2049512"/>
            <a:ext cx="7770114" cy="1359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97"/>
              </a:lnSpc>
              <a:buNone/>
            </a:pPr>
            <a:r>
              <a:rPr lang="en-US" sz="51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Regalar oro es regalar dos cosas a la vez</a:t>
            </a:r>
            <a:endParaRPr lang="en-US" sz="5100" dirty="0"/>
          </a:p>
        </p:txBody>
      </p:sp>
      <p:sp>
        <p:nvSpPr>
          <p:cNvPr id="5" name="Shape 2"/>
          <p:cNvSpPr/>
          <p:nvPr/>
        </p:nvSpPr>
        <p:spPr>
          <a:xfrm>
            <a:off x="9829800" y="3675608"/>
            <a:ext cx="7543800" cy="5166717"/>
          </a:xfrm>
          <a:prstGeom prst="roundRect">
            <a:avLst>
              <a:gd name="adj" fmla="val 553"/>
            </a:avLst>
          </a:prstGeom>
          <a:solidFill>
            <a:srgbClr val="F7F9F7"/>
          </a:solidFill>
          <a:ln/>
        </p:spPr>
      </p:sp>
      <p:sp>
        <p:nvSpPr>
          <p:cNvPr id="6" name="Shape 3"/>
          <p:cNvSpPr/>
          <p:nvPr/>
        </p:nvSpPr>
        <p:spPr>
          <a:xfrm>
            <a:off x="9829800" y="8832800"/>
            <a:ext cx="7543800" cy="9525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7" name="Shape 4"/>
          <p:cNvSpPr/>
          <p:nvPr/>
        </p:nvSpPr>
        <p:spPr>
          <a:xfrm>
            <a:off x="9829800" y="3675608"/>
            <a:ext cx="7543800" cy="9525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8" name="Shape 5"/>
          <p:cNvSpPr/>
          <p:nvPr/>
        </p:nvSpPr>
        <p:spPr>
          <a:xfrm>
            <a:off x="9829800" y="3675608"/>
            <a:ext cx="28575" cy="5166717"/>
          </a:xfrm>
          <a:prstGeom prst="rect">
            <a:avLst/>
          </a:prstGeom>
          <a:solidFill>
            <a:srgbClr val="96202F"/>
          </a:solidFill>
          <a:ln/>
        </p:spPr>
      </p:sp>
      <p:sp>
        <p:nvSpPr>
          <p:cNvPr id="9" name="Shape 6"/>
          <p:cNvSpPr/>
          <p:nvPr/>
        </p:nvSpPr>
        <p:spPr>
          <a:xfrm>
            <a:off x="17364075" y="3675608"/>
            <a:ext cx="9525" cy="5166717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10" name="Text 7"/>
          <p:cNvSpPr/>
          <p:nvPr/>
        </p:nvSpPr>
        <p:spPr>
          <a:xfrm>
            <a:off x="10201275" y="4028033"/>
            <a:ext cx="75018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DEL POST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10201275" y="4528096"/>
            <a:ext cx="7024497" cy="399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1A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Regalar oro es regalar dos cosas a la vez: la pieza y lo que pesa. Una cadena de 18k se usa a diario y conserva su valor en gramos. Las hacemos en el taller, en el largo que pidas (45, 50, 60 o 70 cm) y en 10k, 14k o 18k. Cada pieza sale con su tarjeta de ley y peso. </a:t>
            </a:r>
            <a:pPr algn="l" indent="0" marL="0">
              <a:lnSpc>
                <a:spcPct val="138667"/>
              </a:lnSpc>
              <a:buNone/>
            </a:pPr>
            <a:r>
              <a:rPr lang="en-US" sz="1950" dirty="0">
                <a:solidFill>
                  <a:srgbClr val="56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#OroDeInversión #Cadenas18k #JoyeríaCaracas #RegaloDeOro #Laksmy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621274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Facebook · enlace 1200×630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462498" y="1042988"/>
            <a:ext cx="210221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ESPECTRO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790700"/>
            <a:ext cx="11430000" cy="6000750"/>
          </a:xfrm>
          <a:prstGeom prst="rect">
            <a:avLst/>
          </a:prstGeom>
          <a:solidFill>
            <a:srgbClr val="F7F9F7"/>
          </a:solidFill>
          <a:ln w="9525">
            <a:solidFill>
              <a:srgbClr val="C9D0C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90700"/>
            <a:ext cx="11430000" cy="6000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77800" y="1790700"/>
            <a:ext cx="4495800" cy="6167438"/>
          </a:xfrm>
          <a:prstGeom prst="roundRect">
            <a:avLst>
              <a:gd name="adj" fmla="val 636"/>
            </a:avLst>
          </a:prstGeom>
          <a:solidFill>
            <a:srgbClr val="F7F9F7"/>
          </a:solidFill>
          <a:ln/>
        </p:spPr>
      </p:sp>
      <p:sp>
        <p:nvSpPr>
          <p:cNvPr id="7" name="Shape 4"/>
          <p:cNvSpPr/>
          <p:nvPr/>
        </p:nvSpPr>
        <p:spPr>
          <a:xfrm>
            <a:off x="12877800" y="7948613"/>
            <a:ext cx="4495800" cy="9525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8" name="Shape 5"/>
          <p:cNvSpPr/>
          <p:nvPr/>
        </p:nvSpPr>
        <p:spPr>
          <a:xfrm>
            <a:off x="12877800" y="1790700"/>
            <a:ext cx="4495800" cy="9525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9" name="Shape 6"/>
          <p:cNvSpPr/>
          <p:nvPr/>
        </p:nvSpPr>
        <p:spPr>
          <a:xfrm>
            <a:off x="12877800" y="1790700"/>
            <a:ext cx="28575" cy="6167438"/>
          </a:xfrm>
          <a:prstGeom prst="rect">
            <a:avLst/>
          </a:prstGeom>
          <a:solidFill>
            <a:srgbClr val="96202F"/>
          </a:solidFill>
          <a:ln/>
        </p:spPr>
      </p:sp>
      <p:sp>
        <p:nvSpPr>
          <p:cNvPr id="10" name="Shape 7"/>
          <p:cNvSpPr/>
          <p:nvPr/>
        </p:nvSpPr>
        <p:spPr>
          <a:xfrm>
            <a:off x="17364075" y="1790700"/>
            <a:ext cx="9525" cy="6167438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11" name="Text 8"/>
          <p:cNvSpPr/>
          <p:nvPr/>
        </p:nvSpPr>
        <p:spPr>
          <a:xfrm>
            <a:off x="13249275" y="2143125"/>
            <a:ext cx="41490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DEL POST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13249275" y="2643188"/>
            <a:ext cx="3885057" cy="500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931"/>
              </a:lnSpc>
              <a:buNone/>
            </a:pPr>
            <a:r>
              <a:rPr lang="en-US" sz="1875" dirty="0">
                <a:solidFill>
                  <a:srgbClr val="1A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anillo de grado se escoge por identificación, no por catálogo: cada piedra tiene su carrera. Y una regla nuestra: </a:t>
            </a:r>
            <a:pPr algn="l" indent="0" marL="0">
              <a:lnSpc>
                <a:spcPct val="137931"/>
              </a:lnSpc>
              <a:buNone/>
            </a:pPr>
            <a:r>
              <a:rPr lang="en-US" sz="1875" b="1" dirty="0">
                <a:solidFill>
                  <a:srgbClr val="1A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piedra no amarra el modelo </a:t>
            </a:r>
            <a:pPr algn="l" indent="0" marL="0">
              <a:lnSpc>
                <a:spcPct val="137931"/>
              </a:lnSpc>
              <a:buNone/>
            </a:pPr>
            <a:r>
              <a:rPr lang="en-US" sz="1875" dirty="0">
                <a:solidFill>
                  <a:srgbClr val="1A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¿Te gustó un anillo pero lo viste con otra piedra? Se le pone la que quieras. 10 modelos, en plata Ley 950 desde $138 o en oro 10k, 14k y 18k. Grabado interno incluido. Encargo por WhatsApp: 0414-246-4755.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621274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1A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Facebook · enlace 1200×630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462498" y="1042988"/>
            <a:ext cx="210221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LA MEDIDA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790700"/>
            <a:ext cx="11430000" cy="6000750"/>
          </a:xfrm>
          <a:prstGeom prst="rect">
            <a:avLst/>
          </a:prstGeom>
          <a:solidFill>
            <a:srgbClr val="161D1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90700"/>
            <a:ext cx="11430000" cy="6000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77800" y="1790700"/>
            <a:ext cx="4495800" cy="6538913"/>
          </a:xfrm>
          <a:prstGeom prst="roundRect">
            <a:avLst>
              <a:gd name="adj" fmla="val 636"/>
            </a:avLst>
          </a:prstGeom>
          <a:solidFill>
            <a:srgbClr val="F7F9F7"/>
          </a:solidFill>
          <a:ln/>
        </p:spPr>
      </p:sp>
      <p:sp>
        <p:nvSpPr>
          <p:cNvPr id="7" name="Shape 4"/>
          <p:cNvSpPr/>
          <p:nvPr/>
        </p:nvSpPr>
        <p:spPr>
          <a:xfrm>
            <a:off x="12877800" y="8320088"/>
            <a:ext cx="4495800" cy="9525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8" name="Shape 5"/>
          <p:cNvSpPr/>
          <p:nvPr/>
        </p:nvSpPr>
        <p:spPr>
          <a:xfrm>
            <a:off x="12877800" y="1790700"/>
            <a:ext cx="4495800" cy="9525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9" name="Shape 6"/>
          <p:cNvSpPr/>
          <p:nvPr/>
        </p:nvSpPr>
        <p:spPr>
          <a:xfrm>
            <a:off x="12877800" y="1790700"/>
            <a:ext cx="28575" cy="6538913"/>
          </a:xfrm>
          <a:prstGeom prst="rect">
            <a:avLst/>
          </a:prstGeom>
          <a:solidFill>
            <a:srgbClr val="96202F"/>
          </a:solidFill>
          <a:ln/>
        </p:spPr>
      </p:sp>
      <p:sp>
        <p:nvSpPr>
          <p:cNvPr id="10" name="Shape 7"/>
          <p:cNvSpPr/>
          <p:nvPr/>
        </p:nvSpPr>
        <p:spPr>
          <a:xfrm>
            <a:off x="17364075" y="1790700"/>
            <a:ext cx="9525" cy="6538913"/>
          </a:xfrm>
          <a:prstGeom prst="rect">
            <a:avLst/>
          </a:prstGeom>
          <a:solidFill>
            <a:srgbClr val="DDE2DF"/>
          </a:solidFill>
          <a:ln/>
        </p:spPr>
      </p:sp>
      <p:sp>
        <p:nvSpPr>
          <p:cNvPr id="11" name="Text 8"/>
          <p:cNvSpPr/>
          <p:nvPr/>
        </p:nvSpPr>
        <p:spPr>
          <a:xfrm>
            <a:off x="13249275" y="2143125"/>
            <a:ext cx="41490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56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DEL POST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13249275" y="2643188"/>
            <a:ext cx="3885057" cy="537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931"/>
              </a:lnSpc>
              <a:buNone/>
            </a:pPr>
            <a:r>
              <a:rPr lang="en-US" sz="1875" dirty="0">
                <a:solidFill>
                  <a:srgbClr val="1A2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¿Viste una pieza que te gustó y no la consigues? Mándanos la foto por WhatsApp y te decimos qué cuesta hacerla. Trabajamos por encargo en nuestro taller de Caracas: alianzas, anillos, dijes, zarcillos y cadenas. Tú escoges la ley, el color del oro, la talla y lo que va grabado por dentro. Cotización sin compromiso. 0414-246-4755.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047750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PRÓXIMOS PASOS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538288"/>
            <a:ext cx="178117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73"/>
              </a:lnSpc>
              <a:buNone/>
            </a:pPr>
            <a:r>
              <a:rPr lang="en-US" sz="7200" dirty="0">
                <a:solidFill>
                  <a:srgbClr val="F7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falta para publicar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047750" y="4138240"/>
            <a:ext cx="28575" cy="844823"/>
          </a:xfrm>
          <a:prstGeom prst="rect">
            <a:avLst/>
          </a:prstGeom>
          <a:solidFill>
            <a:srgbClr val="C79A50"/>
          </a:solidFill>
          <a:ln/>
        </p:spPr>
      </p:sp>
      <p:sp>
        <p:nvSpPr>
          <p:cNvPr id="5" name="Text 3"/>
          <p:cNvSpPr/>
          <p:nvPr/>
        </p:nvSpPr>
        <p:spPr>
          <a:xfrm>
            <a:off x="1381125" y="4138240"/>
            <a:ext cx="81619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381125" y="4562103"/>
            <a:ext cx="8161973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Escoger la dirección: 1a, 1b o 1c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486900" y="4138240"/>
            <a:ext cx="28575" cy="844823"/>
          </a:xfrm>
          <a:prstGeom prst="rect">
            <a:avLst/>
          </a:prstGeom>
          <a:solidFill>
            <a:srgbClr val="C79A50"/>
          </a:solidFill>
          <a:ln/>
        </p:spPr>
      </p:sp>
      <p:sp>
        <p:nvSpPr>
          <p:cNvPr id="8" name="Text 6"/>
          <p:cNvSpPr/>
          <p:nvPr/>
        </p:nvSpPr>
        <p:spPr>
          <a:xfrm>
            <a:off x="9820275" y="4138240"/>
            <a:ext cx="81619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820275" y="4562103"/>
            <a:ext cx="8161973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Producir el sello final y reemplazar los assets «CL»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47750" y="5364063"/>
            <a:ext cx="28575" cy="1265783"/>
          </a:xfrm>
          <a:prstGeom prst="rect">
            <a:avLst/>
          </a:prstGeom>
          <a:solidFill>
            <a:srgbClr val="C79A50"/>
          </a:solidFill>
          <a:ln/>
        </p:spPr>
      </p:sp>
      <p:sp>
        <p:nvSpPr>
          <p:cNvPr id="11" name="Text 9"/>
          <p:cNvSpPr/>
          <p:nvPr/>
        </p:nvSpPr>
        <p:spPr>
          <a:xfrm>
            <a:off x="1381125" y="5364063"/>
            <a:ext cx="81619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381125" y="5787926"/>
            <a:ext cx="7642574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Fotografía propia — 29 de 34 piezas siguen sin foto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486900" y="5364063"/>
            <a:ext cx="28575" cy="1265783"/>
          </a:xfrm>
          <a:prstGeom prst="rect">
            <a:avLst/>
          </a:prstGeom>
          <a:solidFill>
            <a:srgbClr val="C79A50"/>
          </a:solidFill>
          <a:ln/>
        </p:spPr>
      </p:sp>
      <p:sp>
        <p:nvSpPr>
          <p:cNvPr id="14" name="Text 12"/>
          <p:cNvSpPr/>
          <p:nvPr/>
        </p:nvSpPr>
        <p:spPr>
          <a:xfrm>
            <a:off x="9820275" y="5364063"/>
            <a:ext cx="81619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820275" y="5787926"/>
            <a:ext cx="7642574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dirty="0">
                <a:solidFill>
                  <a:srgbClr val="F7F9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el RIF en el pie y actualizar el precio del metal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047750" y="8315325"/>
            <a:ext cx="16192500" cy="9525"/>
          </a:xfrm>
          <a:prstGeom prst="rect">
            <a:avLst/>
          </a:prstGeom>
          <a:solidFill>
            <a:srgbClr val="F7F9F7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8667750"/>
            <a:ext cx="16093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spc="276" kern="0" dirty="0">
                <a:solidFill>
                  <a:srgbClr val="F7F9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LAKSMY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3454583" y="8939213"/>
            <a:ext cx="416423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C79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0414 246 4755 · CARACAS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2026-08-10T01:52:26Z</dcterms:created>
  <dcterms:modified xsi:type="dcterms:W3CDTF">2026-08-10T01:52:26Z</dcterms:modified>
</cp:coreProperties>
</file>